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Inter" charset="-122" pitchFamily="34"/>
      <p:regular r:id="rId15"/>
    </p:embeddedFont>
    <p:embeddedFont>
      <p:font typeface="Space Grotesk" charset="-122" pitchFamily="34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cover-rule"/>
          <p:cNvSpPr/>
          <p:nvPr/>
        </p:nvSpPr>
        <p:spPr>
          <a:xfrm>
            <a:off x="1016000" y="1752600"/>
            <a:ext cx="939800" cy="50800"/>
          </a:xfrm>
          <a:prstGeom prst="rect">
            <a:avLst/>
          </a:prstGeom>
          <a:solidFill>
            <a:srgbClr val="B4E61E"/>
          </a:solidFill>
          <a:ln/>
        </p:spPr>
      </p:sp>
      <p:sp>
        <p:nvSpPr>
          <p:cNvPr id="4" name="cover-kicker"/>
          <p:cNvSpPr/>
          <p:nvPr/>
        </p:nvSpPr>
        <p:spPr>
          <a:xfrm>
            <a:off x="1016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/ V1.0 / MANUS</a:t>
            </a:r>
            <a:endParaRPr lang="en-US" sz="1400" dirty="0"/>
          </a:p>
        </p:txBody>
      </p:sp>
      <p:sp>
        <p:nvSpPr>
          <p:cNvPr id="5" name="cover-title"/>
          <p:cNvSpPr/>
          <p:nvPr/>
        </p:nvSpPr>
        <p:spPr>
          <a:xfrm>
            <a:off x="1016000" y="2921000"/>
            <a:ext cx="914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90"/>
              </a:lnSpc>
              <a:buNone/>
            </a:pPr>
            <a:r>
              <a:rPr lang="en-US" altLang="en-US" sz="62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Manus Prompt</a:t>
            </a:r>
            <a:endParaRPr lang="en-US" sz="6200" dirty="0"/>
          </a:p>
          <a:p>
            <a:pPr algn="l" indent="0" marL="0">
              <a:lnSpc>
                <a:spcPts val="5890"/>
              </a:lnSpc>
              <a:buNone/>
            </a:pPr>
            <a:r>
              <a:rPr lang="en-US" altLang="en-US" sz="6200" dirty="0">
                <a:solidFill>
                  <a:srgbClr val="B4E6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Optimizer</a:t>
            </a:r>
            <a:endParaRPr lang="en-US" sz="6200" dirty="0"/>
          </a:p>
        </p:txBody>
      </p:sp>
      <p:sp>
        <p:nvSpPr>
          <p:cNvPr id="6" name="cover-subtitle"/>
          <p:cNvSpPr/>
          <p:nvPr/>
        </p:nvSpPr>
        <p:spPr>
          <a:xfrm>
            <a:off x="1066800" y="5334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altLang="en-US" sz="2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 to improve output quality and reduce recurring context load.</a:t>
            </a:r>
            <a:endParaRPr lang="en-US" sz="2200" dirty="0"/>
          </a:p>
        </p:txBody>
      </p:sp>
      <p:sp>
        <p:nvSpPr>
          <p:cNvPr id="7" name="cover-axis"/>
          <p:cNvSpPr/>
          <p:nvPr/>
        </p:nvSpPr>
        <p:spPr>
          <a:xfrm>
            <a:off x="12446000" y="2768600"/>
            <a:ext cx="9144" cy="3606800"/>
          </a:xfrm>
          <a:prstGeom prst="line">
            <a:avLst/>
          </a:prstGeom>
          <a:ln w="25400">
            <a:solidFill>
              <a:srgbClr val="2A3143"/>
            </a:solidFill>
            <a:prstDash val="solid"/>
          </a:ln>
        </p:spPr>
      </p:sp>
      <p:sp>
        <p:nvSpPr>
          <p:cNvPr id="8" name="cover-quality-node"/>
          <p:cNvSpPr/>
          <p:nvPr/>
        </p:nvSpPr>
        <p:spPr>
          <a:xfrm>
            <a:off x="11785600" y="3225800"/>
            <a:ext cx="1320800" cy="1320800"/>
          </a:xfrm>
          <a:prstGeom prst="ellipse">
            <a:avLst/>
          </a:prstGeom>
          <a:solidFill>
            <a:srgbClr val="141A29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9" name="cover-quality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6600" y="3479800"/>
            <a:ext cx="558800" cy="558800"/>
          </a:xfrm>
          <a:prstGeom prst="rect">
            <a:avLst/>
          </a:prstGeom>
        </p:spPr>
      </p:pic>
      <p:sp>
        <p:nvSpPr>
          <p:cNvPr id="10" name="cover-quality-label"/>
          <p:cNvSpPr/>
          <p:nvPr/>
        </p:nvSpPr>
        <p:spPr>
          <a:xfrm>
            <a:off x="10947400" y="47879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QUALITY</a:t>
            </a:r>
            <a:endParaRPr lang="en-US" sz="1400" dirty="0"/>
          </a:p>
        </p:txBody>
      </p:sp>
      <p:sp>
        <p:nvSpPr>
          <p:cNvPr id="11" name="cover-efficiency-node"/>
          <p:cNvSpPr/>
          <p:nvPr/>
        </p:nvSpPr>
        <p:spPr>
          <a:xfrm>
            <a:off x="11785600" y="5638800"/>
            <a:ext cx="1320800" cy="1320800"/>
          </a:xfrm>
          <a:prstGeom prst="ellipse">
            <a:avLst/>
          </a:prstGeom>
          <a:solidFill>
            <a:srgbClr val="141A29"/>
          </a:solidFill>
          <a:ln w="25400">
            <a:solidFill>
              <a:srgbClr val="B4E61E"/>
            </a:solidFill>
            <a:prstDash val="solid"/>
          </a:ln>
        </p:spPr>
      </p:sp>
      <p:pic>
        <p:nvPicPr>
          <p:cNvPr id="12" name="cover-efficiency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600" y="6019800"/>
            <a:ext cx="558800" cy="558800"/>
          </a:xfrm>
          <a:prstGeom prst="rect">
            <a:avLst/>
          </a:prstGeom>
        </p:spPr>
      </p:pic>
      <p:sp>
        <p:nvSpPr>
          <p:cNvPr id="13" name="cover-efficiency-label"/>
          <p:cNvSpPr/>
          <p:nvPr/>
        </p:nvSpPr>
        <p:spPr>
          <a:xfrm>
            <a:off x="10693400" y="7188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EFFICIENCY</a:t>
            </a:r>
            <a:endParaRPr lang="en-US" sz="1400" dirty="0"/>
          </a:p>
        </p:txBody>
      </p:sp>
      <p:sp>
        <p:nvSpPr>
          <p:cNvPr id="14" name="cover-footer"/>
          <p:cNvSpPr/>
          <p:nvPr/>
        </p:nvSpPr>
        <p:spPr>
          <a:xfrm>
            <a:off x="1016000" y="8318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works, what it validates, and when success is real.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DIAGNOSIS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371600"/>
            <a:ext cx="1041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 is not “writing more.”</a:t>
            </a:r>
            <a:endParaRPr lang="en-US" sz="3800" dirty="0"/>
          </a:p>
        </p:txBody>
      </p:sp>
      <p:sp>
        <p:nvSpPr>
          <p:cNvPr id="5" name="intro"/>
          <p:cNvSpPr/>
          <p:nvPr/>
        </p:nvSpPr>
        <p:spPr>
          <a:xfrm>
            <a:off x="1016000" y="2603500"/>
            <a:ext cx="508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altLang="en-US" sz="21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 can fail before it runs: through ambiguity, duplication, or context that changes no decision.</a:t>
            </a:r>
            <a:endParaRPr lang="en-US" sz="2100" dirty="0"/>
          </a:p>
        </p:txBody>
      </p:sp>
      <p:sp>
        <p:nvSpPr>
          <p:cNvPr id="6" name="left-rule"/>
          <p:cNvSpPr/>
          <p:nvPr/>
        </p:nvSpPr>
        <p:spPr>
          <a:xfrm>
            <a:off x="1016000" y="4343400"/>
            <a:ext cx="4572000" cy="25400"/>
          </a:xfrm>
          <a:prstGeom prst="rect">
            <a:avLst/>
          </a:prstGeom>
          <a:solidFill>
            <a:srgbClr val="2A3143"/>
          </a:solidFill>
          <a:ln/>
        </p:spPr>
      </p:sp>
      <p:sp>
        <p:nvSpPr>
          <p:cNvPr id="7" name="signals"/>
          <p:cNvSpPr/>
          <p:nvPr/>
        </p:nvSpPr>
        <p:spPr>
          <a:xfrm>
            <a:off x="1016000" y="4762500"/>
            <a:ext cx="5143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8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 objective</a:t>
            </a: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mixed deliverables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8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Duplicated rules</a:t>
            </a: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layers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8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sources</a:t>
            </a: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unclear tools</a:t>
            </a:r>
            <a:endParaRPr lang="en-US" sz="1800" dirty="0"/>
          </a:p>
        </p:txBody>
      </p:sp>
      <p:sp>
        <p:nvSpPr>
          <p:cNvPr id="8" name="input-card"/>
          <p:cNvSpPr/>
          <p:nvPr/>
        </p:nvSpPr>
        <p:spPr>
          <a:xfrm>
            <a:off x="7747000" y="2870200"/>
            <a:ext cx="2921000" cy="1473200"/>
          </a:xfrm>
          <a:prstGeom prst="roundRect">
            <a:avLst>
              <a:gd name="adj" fmla="val 10345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9" name="input-label"/>
          <p:cNvSpPr/>
          <p:nvPr/>
        </p:nvSpPr>
        <p:spPr>
          <a:xfrm>
            <a:off x="8051800" y="31750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PROMPT</a:t>
            </a:r>
            <a:endParaRPr lang="en-US" sz="1300" dirty="0"/>
          </a:p>
        </p:txBody>
      </p:sp>
      <p:sp>
        <p:nvSpPr>
          <p:cNvPr id="10" name="input-text"/>
          <p:cNvSpPr/>
          <p:nvPr/>
        </p:nvSpPr>
        <p:spPr>
          <a:xfrm>
            <a:off x="8051800" y="3606800"/>
            <a:ext cx="2311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rules + pasted data</a:t>
            </a:r>
            <a:endParaRPr lang="en-US" sz="1700" dirty="0"/>
          </a:p>
        </p:txBody>
      </p:sp>
      <p:sp>
        <p:nvSpPr>
          <p:cNvPr id="11" name="arrow-one"/>
          <p:cNvSpPr/>
          <p:nvPr/>
        </p:nvSpPr>
        <p:spPr>
          <a:xfrm>
            <a:off x="10795000" y="3606800"/>
            <a:ext cx="1143000" cy="9144"/>
          </a:xfrm>
          <a:prstGeom prst="line">
            <a:avLst/>
          </a:prstGeom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2" name="signal-card"/>
          <p:cNvSpPr/>
          <p:nvPr/>
        </p:nvSpPr>
        <p:spPr>
          <a:xfrm>
            <a:off x="12065000" y="2870200"/>
            <a:ext cx="2921000" cy="1473200"/>
          </a:xfrm>
          <a:prstGeom prst="roundRect">
            <a:avLst>
              <a:gd name="adj" fmla="val 10345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13" name="signal-label"/>
          <p:cNvSpPr/>
          <p:nvPr/>
        </p:nvSpPr>
        <p:spPr>
          <a:xfrm>
            <a:off x="12369800" y="31750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SIGNAL</a:t>
            </a:r>
            <a:endParaRPr lang="en-US" sz="1300" dirty="0"/>
          </a:p>
        </p:txBody>
      </p:sp>
      <p:sp>
        <p:nvSpPr>
          <p:cNvPr id="14" name="signal-text"/>
          <p:cNvSpPr/>
          <p:nvPr/>
        </p:nvSpPr>
        <p:spPr>
          <a:xfrm>
            <a:off x="12369800" y="36068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must guess priorities</a:t>
            </a:r>
            <a:endParaRPr lang="en-US" sz="1700" dirty="0"/>
          </a:p>
        </p:txBody>
      </p:sp>
      <p:sp>
        <p:nvSpPr>
          <p:cNvPr id="15" name="arrow-two"/>
          <p:cNvSpPr/>
          <p:nvPr/>
        </p:nvSpPr>
        <p:spPr>
          <a:xfrm>
            <a:off x="13525500" y="4445000"/>
            <a:ext cx="9144" cy="914400"/>
          </a:xfrm>
          <a:prstGeom prst="line">
            <a:avLst/>
          </a:prstGeom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6" name="output-card"/>
          <p:cNvSpPr/>
          <p:nvPr/>
        </p:nvSpPr>
        <p:spPr>
          <a:xfrm>
            <a:off x="12065000" y="5613400"/>
            <a:ext cx="2921000" cy="1473200"/>
          </a:xfrm>
          <a:prstGeom prst="roundRect">
            <a:avLst>
              <a:gd name="adj" fmla="val 10345"/>
            </a:avLst>
          </a:prstGeom>
          <a:solidFill>
            <a:srgbClr val="28172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output-label"/>
          <p:cNvSpPr/>
          <p:nvPr/>
        </p:nvSpPr>
        <p:spPr>
          <a:xfrm>
            <a:off x="12369800" y="59182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UNEVEN OUTPUT</a:t>
            </a:r>
            <a:endParaRPr lang="en-US" sz="1300" dirty="0"/>
          </a:p>
        </p:txBody>
      </p:sp>
      <p:sp>
        <p:nvSpPr>
          <p:cNvPr id="18" name="output-text"/>
          <p:cNvSpPr/>
          <p:nvPr/>
        </p:nvSpPr>
        <p:spPr>
          <a:xfrm>
            <a:off x="12369800" y="63500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text does not mean better decisions</a:t>
            </a:r>
            <a:endParaRPr lang="en-US" sz="1700" dirty="0"/>
          </a:p>
        </p:txBody>
      </p:sp>
      <p:sp>
        <p:nvSpPr>
          <p:cNvPr id="19" name="footer-insight"/>
          <p:cNvSpPr/>
          <p:nvPr/>
        </p:nvSpPr>
        <p:spPr>
          <a:xfrm>
            <a:off x="7747000" y="7747000"/>
            <a:ext cx="7175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 the cause first. Rewrite the minimum second.</a:t>
            </a:r>
            <a:endParaRPr lang="en-US" sz="1800" dirty="0"/>
          </a:p>
        </p:txBody>
      </p:sp>
      <p:sp>
        <p:nvSpPr>
          <p:cNvPr id="20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368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SUCCESS CRITERIA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371600"/>
            <a:ext cx="990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 requires two conditions.</a:t>
            </a:r>
            <a:endParaRPr lang="en-US" sz="3800" dirty="0"/>
          </a:p>
        </p:txBody>
      </p:sp>
      <p:sp>
        <p:nvSpPr>
          <p:cNvPr id="5" name="subtitle"/>
          <p:cNvSpPr/>
          <p:nvPr/>
        </p:nvSpPr>
        <p:spPr>
          <a:xfrm>
            <a:off x="1016000" y="2260600"/>
            <a:ext cx="939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shorter prompt is not enough. Neither is an output that merely “sounds better.”</a:t>
            </a:r>
            <a:endParaRPr lang="en-US" sz="2000" dirty="0"/>
          </a:p>
        </p:txBody>
      </p:sp>
      <p:sp>
        <p:nvSpPr>
          <p:cNvPr id="6" name="quality-card"/>
          <p:cNvSpPr/>
          <p:nvPr/>
        </p:nvSpPr>
        <p:spPr>
          <a:xfrm>
            <a:off x="1016000" y="3429000"/>
            <a:ext cx="6096000" cy="30480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quality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0" y="3911600"/>
            <a:ext cx="533400" cy="533400"/>
          </a:xfrm>
          <a:prstGeom prst="rect">
            <a:avLst/>
          </a:prstGeom>
        </p:spPr>
      </p:pic>
      <p:sp>
        <p:nvSpPr>
          <p:cNvPr id="8" name="quality-heading"/>
          <p:cNvSpPr/>
          <p:nvPr/>
        </p:nvSpPr>
        <p:spPr>
          <a:xfrm>
            <a:off x="2260600" y="39116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7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Quality</a:t>
            </a:r>
            <a:endParaRPr lang="en-US" sz="2700" dirty="0"/>
          </a:p>
        </p:txBody>
      </p:sp>
      <p:sp>
        <p:nvSpPr>
          <p:cNvPr id="9" name="quality-copy"/>
          <p:cNvSpPr/>
          <p:nvPr/>
        </p:nvSpPr>
        <p:spPr>
          <a:xfrm>
            <a:off x="1524000" y="48006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better meets the objective, constraints, and required format.</a:t>
            </a:r>
            <a:endParaRPr lang="en-US" sz="1800" dirty="0"/>
          </a:p>
        </p:txBody>
      </p:sp>
      <p:sp>
        <p:nvSpPr>
          <p:cNvPr id="10" name="efficiency-card"/>
          <p:cNvSpPr/>
          <p:nvPr/>
        </p:nvSpPr>
        <p:spPr>
          <a:xfrm>
            <a:off x="9144000" y="3429000"/>
            <a:ext cx="6096000" cy="30480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 w="25400">
            <a:solidFill>
              <a:srgbClr val="B4E61E"/>
            </a:solidFill>
            <a:prstDash val="solid"/>
          </a:ln>
        </p:spPr>
      </p:sp>
      <p:pic>
        <p:nvPicPr>
          <p:cNvPr id="11" name="efficiency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911600"/>
            <a:ext cx="533400" cy="533400"/>
          </a:xfrm>
          <a:prstGeom prst="rect">
            <a:avLst/>
          </a:prstGeom>
        </p:spPr>
      </p:pic>
      <p:sp>
        <p:nvSpPr>
          <p:cNvPr id="12" name="efficiency-heading"/>
          <p:cNvSpPr/>
          <p:nvPr/>
        </p:nvSpPr>
        <p:spPr>
          <a:xfrm>
            <a:off x="10388600" y="39116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7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Efficiency</a:t>
            </a:r>
            <a:endParaRPr lang="en-US" sz="2700" dirty="0"/>
          </a:p>
        </p:txBody>
      </p:sp>
      <p:sp>
        <p:nvSpPr>
          <p:cNvPr id="13" name="efficiency-copy"/>
          <p:cNvSpPr/>
          <p:nvPr/>
        </p:nvSpPr>
        <p:spPr>
          <a:xfrm>
            <a:off x="9652000" y="48006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removes repetition or moves context into resources read only when needed.</a:t>
            </a:r>
            <a:endParaRPr lang="en-US" sz="1800" dirty="0"/>
          </a:p>
        </p:txBody>
      </p:sp>
      <p:sp>
        <p:nvSpPr>
          <p:cNvPr id="14" name="gate-line-left"/>
          <p:cNvSpPr/>
          <p:nvPr/>
        </p:nvSpPr>
        <p:spPr>
          <a:xfrm>
            <a:off x="4064000" y="6731000"/>
            <a:ext cx="1905000" cy="762000"/>
          </a:xfrm>
          <a:prstGeom prst="line">
            <a:avLst/>
          </a:prstGeom>
          <a:ln w="25400">
            <a:solidFill>
              <a:srgbClr val="2DD4BF"/>
            </a:solidFill>
            <a:prstDash val="solid"/>
          </a:ln>
        </p:spPr>
      </p:sp>
      <p:sp>
        <p:nvSpPr>
          <p:cNvPr id="15" name="gate-line-right"/>
          <p:cNvSpPr/>
          <p:nvPr/>
        </p:nvSpPr>
        <p:spPr>
          <a:xfrm flipH="1">
            <a:off x="10287000" y="6731000"/>
            <a:ext cx="1905000" cy="762000"/>
          </a:xfrm>
          <a:prstGeom prst="line">
            <a:avLst/>
          </a:prstGeom>
          <a:ln w="25400">
            <a:solidFill>
              <a:srgbClr val="B4E61E"/>
            </a:solidFill>
            <a:prstDash val="solid"/>
          </a:ln>
        </p:spPr>
      </p:sp>
      <p:sp>
        <p:nvSpPr>
          <p:cNvPr id="16" name="success-gate"/>
          <p:cNvSpPr/>
          <p:nvPr/>
        </p:nvSpPr>
        <p:spPr>
          <a:xfrm>
            <a:off x="5969000" y="7086600"/>
            <a:ext cx="4318000" cy="990600"/>
          </a:xfrm>
          <a:prstGeom prst="roundRect">
            <a:avLst>
              <a:gd name="adj" fmla="val 50000"/>
            </a:avLst>
          </a:prstGeom>
          <a:solidFill>
            <a:srgbClr val="B4E61E"/>
          </a:solidFill>
          <a:ln/>
        </p:spPr>
      </p:sp>
      <p:pic>
        <p:nvPicPr>
          <p:cNvPr id="17" name="success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40600"/>
            <a:ext cx="431800" cy="431800"/>
          </a:xfrm>
          <a:prstGeom prst="rect">
            <a:avLst/>
          </a:prstGeom>
        </p:spPr>
      </p:pic>
      <p:sp>
        <p:nvSpPr>
          <p:cNvPr id="18" name="success-copy"/>
          <p:cNvSpPr/>
          <p:nvPr/>
        </p:nvSpPr>
        <p:spPr>
          <a:xfrm>
            <a:off x="6985000" y="7315200"/>
            <a:ext cx="279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A0F1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DUAL SUCCESS</a:t>
            </a:r>
            <a:endParaRPr lang="en-US" sz="2100" dirty="0"/>
          </a:p>
        </p:txBody>
      </p:sp>
      <p:sp>
        <p:nvSpPr>
          <p:cNvPr id="19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393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OPERATING FLOW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371600"/>
            <a:ext cx="1219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works: six steps and one decision first.</a:t>
            </a:r>
            <a:endParaRPr lang="en-US" sz="3800" dirty="0"/>
          </a:p>
        </p:txBody>
      </p:sp>
      <p:sp>
        <p:nvSpPr>
          <p:cNvPr id="5" name="intro"/>
          <p:cNvSpPr/>
          <p:nvPr/>
        </p:nvSpPr>
        <p:spPr>
          <a:xfrm>
            <a:off x="1016000" y="2260600"/>
            <a:ext cx="1117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flow avoids optimizing a prompt when the real issue is a skill, source, or tool.</a:t>
            </a:r>
            <a:endParaRPr lang="en-US" sz="2000" dirty="0"/>
          </a:p>
        </p:txBody>
      </p:sp>
      <p:sp>
        <p:nvSpPr>
          <p:cNvPr id="6" name="step0"/>
          <p:cNvSpPr/>
          <p:nvPr/>
        </p:nvSpPr>
        <p:spPr>
          <a:xfrm>
            <a:off x="1016000" y="3429000"/>
            <a:ext cx="3810000" cy="1371600"/>
          </a:xfrm>
          <a:prstGeom prst="roundRect">
            <a:avLst>
              <a:gd name="adj" fmla="val 11111"/>
            </a:avLst>
          </a:prstGeom>
          <a:solidFill>
            <a:srgbClr val="141A29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7" name="step0-n"/>
          <p:cNvSpPr/>
          <p:nvPr/>
        </p:nvSpPr>
        <p:spPr>
          <a:xfrm>
            <a:off x="1346200" y="37084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endParaRPr lang="en-US" sz="1400" dirty="0"/>
          </a:p>
        </p:txBody>
      </p:sp>
      <p:sp>
        <p:nvSpPr>
          <p:cNvPr id="8" name="step0-title"/>
          <p:cNvSpPr/>
          <p:nvPr/>
        </p:nvSpPr>
        <p:spPr>
          <a:xfrm>
            <a:off x="1905000" y="36576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Reuse</a:t>
            </a:r>
            <a:endParaRPr lang="en-US" sz="2000" dirty="0"/>
          </a:p>
        </p:txBody>
      </p:sp>
      <p:sp>
        <p:nvSpPr>
          <p:cNvPr id="9" name="step0-copy"/>
          <p:cNvSpPr/>
          <p:nvPr/>
        </p:nvSpPr>
        <p:spPr>
          <a:xfrm>
            <a:off x="1905000" y="41275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skill, data, or tool?</a:t>
            </a:r>
            <a:endParaRPr lang="en-US" sz="1400" dirty="0"/>
          </a:p>
        </p:txBody>
      </p:sp>
      <p:sp>
        <p:nvSpPr>
          <p:cNvPr id="10" name="arrow0"/>
          <p:cNvSpPr/>
          <p:nvPr/>
        </p:nvSpPr>
        <p:spPr>
          <a:xfrm>
            <a:off x="4851400" y="4114800"/>
            <a:ext cx="863600" cy="9144"/>
          </a:xfrm>
          <a:prstGeom prst="line">
            <a:avLst/>
          </a:prstGeom>
          <a:ln w="25400">
            <a:solidFill>
              <a:srgbClr val="2A3143"/>
            </a:solidFill>
            <a:prstDash val="solid"/>
            <a:tailEnd type="triangle"/>
          </a:ln>
        </p:spPr>
      </p:sp>
      <p:sp>
        <p:nvSpPr>
          <p:cNvPr id="11" name="step1"/>
          <p:cNvSpPr/>
          <p:nvPr/>
        </p:nvSpPr>
        <p:spPr>
          <a:xfrm>
            <a:off x="5740400" y="3429000"/>
            <a:ext cx="3810000" cy="1371600"/>
          </a:xfrm>
          <a:prstGeom prst="roundRect">
            <a:avLst>
              <a:gd name="adj" fmla="val 11111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12" name="step1-n"/>
          <p:cNvSpPr/>
          <p:nvPr/>
        </p:nvSpPr>
        <p:spPr>
          <a:xfrm>
            <a:off x="6070600" y="37084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step1-title"/>
          <p:cNvSpPr/>
          <p:nvPr/>
        </p:nvSpPr>
        <p:spPr>
          <a:xfrm>
            <a:off x="6629400" y="36576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</a:t>
            </a:r>
            <a:endParaRPr lang="en-US" sz="2000" dirty="0"/>
          </a:p>
        </p:txBody>
      </p:sp>
      <p:sp>
        <p:nvSpPr>
          <p:cNvPr id="14" name="step1-copy"/>
          <p:cNvSpPr/>
          <p:nvPr/>
        </p:nvSpPr>
        <p:spPr>
          <a:xfrm>
            <a:off x="6629400" y="41275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Objective, output, and constraints.</a:t>
            </a:r>
            <a:endParaRPr lang="en-US" sz="1400" dirty="0"/>
          </a:p>
        </p:txBody>
      </p:sp>
      <p:sp>
        <p:nvSpPr>
          <p:cNvPr id="15" name="arrow1"/>
          <p:cNvSpPr/>
          <p:nvPr/>
        </p:nvSpPr>
        <p:spPr>
          <a:xfrm>
            <a:off x="9575800" y="4114800"/>
            <a:ext cx="863600" cy="9144"/>
          </a:xfrm>
          <a:prstGeom prst="line">
            <a:avLst/>
          </a:prstGeom>
          <a:ln w="25400">
            <a:solidFill>
              <a:srgbClr val="2A3143"/>
            </a:solidFill>
            <a:prstDash val="solid"/>
            <a:tailEnd type="triangle"/>
          </a:ln>
        </p:spPr>
      </p:sp>
      <p:sp>
        <p:nvSpPr>
          <p:cNvPr id="16" name="step2"/>
          <p:cNvSpPr/>
          <p:nvPr/>
        </p:nvSpPr>
        <p:spPr>
          <a:xfrm>
            <a:off x="10464800" y="3429000"/>
            <a:ext cx="3810000" cy="1371600"/>
          </a:xfrm>
          <a:prstGeom prst="roundRect">
            <a:avLst>
              <a:gd name="adj" fmla="val 11111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17" name="step2-n"/>
          <p:cNvSpPr/>
          <p:nvPr/>
        </p:nvSpPr>
        <p:spPr>
          <a:xfrm>
            <a:off x="10795000" y="37084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tep2-title"/>
          <p:cNvSpPr/>
          <p:nvPr/>
        </p:nvSpPr>
        <p:spPr>
          <a:xfrm>
            <a:off x="11353800" y="36576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9" name="step2-copy"/>
          <p:cNvSpPr/>
          <p:nvPr/>
        </p:nvSpPr>
        <p:spPr>
          <a:xfrm>
            <a:off x="11353800" y="41275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Duplication, ambiguity, or source.</a:t>
            </a:r>
            <a:endParaRPr lang="en-US" sz="1400" dirty="0"/>
          </a:p>
        </p:txBody>
      </p:sp>
      <p:sp>
        <p:nvSpPr>
          <p:cNvPr id="20" name="down"/>
          <p:cNvSpPr/>
          <p:nvPr/>
        </p:nvSpPr>
        <p:spPr>
          <a:xfrm>
            <a:off x="12369800" y="4826000"/>
            <a:ext cx="9144" cy="863600"/>
          </a:xfrm>
          <a:prstGeom prst="line">
            <a:avLst/>
          </a:prstGeom>
          <a:ln w="25400">
            <a:solidFill>
              <a:srgbClr val="2A3143"/>
            </a:solidFill>
            <a:prstDash val="solid"/>
            <a:tailEnd type="triangle"/>
          </a:ln>
        </p:spPr>
      </p:sp>
      <p:sp>
        <p:nvSpPr>
          <p:cNvPr id="21" name="step3"/>
          <p:cNvSpPr/>
          <p:nvPr/>
        </p:nvSpPr>
        <p:spPr>
          <a:xfrm>
            <a:off x="10464800" y="5943600"/>
            <a:ext cx="3810000" cy="1371600"/>
          </a:xfrm>
          <a:prstGeom prst="roundRect">
            <a:avLst>
              <a:gd name="adj" fmla="val 11111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22" name="step3-n"/>
          <p:cNvSpPr/>
          <p:nvPr/>
        </p:nvSpPr>
        <p:spPr>
          <a:xfrm>
            <a:off x="10795000" y="62230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tep3-title"/>
          <p:cNvSpPr/>
          <p:nvPr/>
        </p:nvSpPr>
        <p:spPr>
          <a:xfrm>
            <a:off x="11353800" y="61722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</a:t>
            </a:r>
            <a:endParaRPr lang="en-US" sz="2000" dirty="0"/>
          </a:p>
        </p:txBody>
      </p:sp>
      <p:sp>
        <p:nvSpPr>
          <p:cNvPr id="24" name="step3-copy"/>
          <p:cNvSpPr/>
          <p:nvPr/>
        </p:nvSpPr>
        <p:spPr>
          <a:xfrm>
            <a:off x="11353800" y="66421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layers; one rule, one owner.</a:t>
            </a:r>
            <a:endParaRPr lang="en-US" sz="1400" dirty="0"/>
          </a:p>
        </p:txBody>
      </p:sp>
      <p:sp>
        <p:nvSpPr>
          <p:cNvPr id="25" name="arrow3"/>
          <p:cNvSpPr/>
          <p:nvPr/>
        </p:nvSpPr>
        <p:spPr>
          <a:xfrm flipH="1">
            <a:off x="9575800" y="6629400"/>
            <a:ext cx="863600" cy="9144"/>
          </a:xfrm>
          <a:prstGeom prst="line">
            <a:avLst/>
          </a:prstGeom>
          <a:ln w="25400">
            <a:solidFill>
              <a:srgbClr val="2A3143"/>
            </a:solidFill>
            <a:prstDash val="solid"/>
            <a:tailEnd type="triangle"/>
          </a:ln>
        </p:spPr>
      </p:sp>
      <p:sp>
        <p:nvSpPr>
          <p:cNvPr id="26" name="step4"/>
          <p:cNvSpPr/>
          <p:nvPr/>
        </p:nvSpPr>
        <p:spPr>
          <a:xfrm>
            <a:off x="5740400" y="5943600"/>
            <a:ext cx="3810000" cy="1371600"/>
          </a:xfrm>
          <a:prstGeom prst="roundRect">
            <a:avLst>
              <a:gd name="adj" fmla="val 11111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27" name="step4-n"/>
          <p:cNvSpPr/>
          <p:nvPr/>
        </p:nvSpPr>
        <p:spPr>
          <a:xfrm>
            <a:off x="6070600" y="62230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step4-title"/>
          <p:cNvSpPr/>
          <p:nvPr/>
        </p:nvSpPr>
        <p:spPr>
          <a:xfrm>
            <a:off x="6629400" y="61722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2000" dirty="0"/>
          </a:p>
        </p:txBody>
      </p:sp>
      <p:sp>
        <p:nvSpPr>
          <p:cNvPr id="29" name="step4-copy"/>
          <p:cNvSpPr/>
          <p:nvPr/>
        </p:nvSpPr>
        <p:spPr>
          <a:xfrm>
            <a:off x="6629400" y="66421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case; quality and visible load.</a:t>
            </a:r>
            <a:endParaRPr lang="en-US" sz="1400" dirty="0"/>
          </a:p>
        </p:txBody>
      </p:sp>
      <p:sp>
        <p:nvSpPr>
          <p:cNvPr id="30" name="arrow4"/>
          <p:cNvSpPr/>
          <p:nvPr/>
        </p:nvSpPr>
        <p:spPr>
          <a:xfrm flipH="1">
            <a:off x="4851400" y="6629400"/>
            <a:ext cx="863600" cy="9144"/>
          </a:xfrm>
          <a:prstGeom prst="line">
            <a:avLst/>
          </a:prstGeom>
          <a:ln w="25400">
            <a:solidFill>
              <a:srgbClr val="2A3143"/>
            </a:solidFill>
            <a:prstDash val="solid"/>
            <a:tailEnd type="triangle"/>
          </a:ln>
        </p:spPr>
      </p:sp>
      <p:sp>
        <p:nvSpPr>
          <p:cNvPr id="31" name="step5"/>
          <p:cNvSpPr/>
          <p:nvPr/>
        </p:nvSpPr>
        <p:spPr>
          <a:xfrm>
            <a:off x="1016000" y="5943600"/>
            <a:ext cx="3810000" cy="1371600"/>
          </a:xfrm>
          <a:prstGeom prst="roundRect">
            <a:avLst>
              <a:gd name="adj" fmla="val 11111"/>
            </a:avLst>
          </a:prstGeom>
          <a:solidFill>
            <a:srgbClr val="1D2B18"/>
          </a:solidFill>
          <a:ln w="25400">
            <a:solidFill>
              <a:srgbClr val="B4E61E"/>
            </a:solidFill>
            <a:prstDash val="solid"/>
          </a:ln>
        </p:spPr>
      </p:sp>
      <p:sp>
        <p:nvSpPr>
          <p:cNvPr id="32" name="step5-n"/>
          <p:cNvSpPr/>
          <p:nvPr/>
        </p:nvSpPr>
        <p:spPr>
          <a:xfrm>
            <a:off x="1346200" y="62230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step5-title"/>
          <p:cNvSpPr/>
          <p:nvPr/>
        </p:nvSpPr>
        <p:spPr>
          <a:xfrm>
            <a:off x="1905000" y="61722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34" name="step5-copy"/>
          <p:cNvSpPr/>
          <p:nvPr/>
        </p:nvSpPr>
        <p:spPr>
          <a:xfrm>
            <a:off x="1905000" y="66421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prompt + test + residual risk.</a:t>
            </a:r>
            <a:endParaRPr lang="en-US" sz="1400" dirty="0"/>
          </a:p>
        </p:txBody>
      </p:sp>
      <p:sp>
        <p:nvSpPr>
          <p:cNvPr id="35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ARCHITECTURE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371600"/>
            <a:ext cx="1193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clear prompt is a structure, not an accumulation.</a:t>
            </a:r>
            <a:endParaRPr lang="en-US" sz="3800" dirty="0"/>
          </a:p>
        </p:txBody>
      </p:sp>
      <p:sp>
        <p:nvSpPr>
          <p:cNvPr id="5" name="prompt-shell"/>
          <p:cNvSpPr/>
          <p:nvPr/>
        </p:nvSpPr>
        <p:spPr>
          <a:xfrm>
            <a:off x="1016000" y="2692400"/>
            <a:ext cx="8509000" cy="5207000"/>
          </a:xfrm>
          <a:prstGeom prst="roundRect">
            <a:avLst>
              <a:gd name="adj" fmla="val 3902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6" name="prompt-caption"/>
          <p:cNvSpPr/>
          <p:nvPr/>
        </p:nvSpPr>
        <p:spPr>
          <a:xfrm>
            <a:off x="1422400" y="3022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ADAPTABLE TEMPLATE</a:t>
            </a:r>
            <a:endParaRPr lang="en-US" sz="1300" dirty="0"/>
          </a:p>
        </p:txBody>
      </p:sp>
      <p:sp>
        <p:nvSpPr>
          <p:cNvPr id="7" name="task-row"/>
          <p:cNvSpPr/>
          <p:nvPr/>
        </p:nvSpPr>
        <p:spPr>
          <a:xfrm>
            <a:off x="1422400" y="3556000"/>
            <a:ext cx="7696200" cy="533400"/>
          </a:xfrm>
          <a:prstGeom prst="roundRect">
            <a:avLst>
              <a:gd name="adj" fmla="val 14286"/>
            </a:avLst>
          </a:prstGeom>
          <a:solidFill>
            <a:srgbClr val="18283A"/>
          </a:solidFill>
          <a:ln/>
        </p:spPr>
      </p:sp>
      <p:sp>
        <p:nvSpPr>
          <p:cNvPr id="8" name="task-label"/>
          <p:cNvSpPr/>
          <p:nvPr/>
        </p:nvSpPr>
        <p:spPr>
          <a:xfrm>
            <a:off x="1651000" y="3683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TASK</a:t>
            </a:r>
            <a:endParaRPr lang="en-US" sz="1600" dirty="0"/>
          </a:p>
        </p:txBody>
      </p:sp>
      <p:sp>
        <p:nvSpPr>
          <p:cNvPr id="9" name="task-copy"/>
          <p:cNvSpPr/>
          <p:nvPr/>
        </p:nvSpPr>
        <p:spPr>
          <a:xfrm>
            <a:off x="4191000" y="3683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Verb, result, and scope.</a:t>
            </a:r>
            <a:endParaRPr lang="en-US" sz="1600" dirty="0"/>
          </a:p>
        </p:txBody>
      </p:sp>
      <p:sp>
        <p:nvSpPr>
          <p:cNvPr id="10" name="context-row"/>
          <p:cNvSpPr/>
          <p:nvPr/>
        </p:nvSpPr>
        <p:spPr>
          <a:xfrm>
            <a:off x="1422400" y="4241800"/>
            <a:ext cx="7696200" cy="533400"/>
          </a:xfrm>
          <a:prstGeom prst="roundRect">
            <a:avLst>
              <a:gd name="adj" fmla="val 14286"/>
            </a:avLst>
          </a:prstGeom>
          <a:solidFill>
            <a:srgbClr val="18283A"/>
          </a:solidFill>
          <a:ln/>
        </p:spPr>
      </p:sp>
      <p:sp>
        <p:nvSpPr>
          <p:cNvPr id="11" name="context-label"/>
          <p:cNvSpPr/>
          <p:nvPr/>
        </p:nvSpPr>
        <p:spPr>
          <a:xfrm>
            <a:off x="1651000" y="43688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CONTEXT</a:t>
            </a:r>
            <a:endParaRPr lang="en-US" sz="1600" dirty="0"/>
          </a:p>
        </p:txBody>
      </p:sp>
      <p:sp>
        <p:nvSpPr>
          <p:cNvPr id="12" name="context-copy"/>
          <p:cNvSpPr/>
          <p:nvPr/>
        </p:nvSpPr>
        <p:spPr>
          <a:xfrm>
            <a:off x="4191000" y="43688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facts from this run.</a:t>
            </a:r>
            <a:endParaRPr lang="en-US" sz="1600" dirty="0"/>
          </a:p>
        </p:txBody>
      </p:sp>
      <p:sp>
        <p:nvSpPr>
          <p:cNvPr id="13" name="sources-row"/>
          <p:cNvSpPr/>
          <p:nvPr/>
        </p:nvSpPr>
        <p:spPr>
          <a:xfrm>
            <a:off x="1422400" y="4927600"/>
            <a:ext cx="7696200" cy="533400"/>
          </a:xfrm>
          <a:prstGeom prst="roundRect">
            <a:avLst>
              <a:gd name="adj" fmla="val 14286"/>
            </a:avLst>
          </a:prstGeom>
          <a:solidFill>
            <a:srgbClr val="18283A"/>
          </a:solidFill>
          <a:ln/>
        </p:spPr>
      </p:sp>
      <p:sp>
        <p:nvSpPr>
          <p:cNvPr id="14" name="sources-label"/>
          <p:cNvSpPr/>
          <p:nvPr/>
        </p:nvSpPr>
        <p:spPr>
          <a:xfrm>
            <a:off x="1651000" y="50546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SOURCES</a:t>
            </a:r>
            <a:endParaRPr lang="en-US" sz="1600" dirty="0"/>
          </a:p>
        </p:txBody>
      </p:sp>
      <p:sp>
        <p:nvSpPr>
          <p:cNvPr id="15" name="sources-copy"/>
          <p:cNvSpPr/>
          <p:nvPr/>
        </p:nvSpPr>
        <p:spPr>
          <a:xfrm>
            <a:off x="4191000" y="50546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paths, and tools.</a:t>
            </a:r>
            <a:endParaRPr lang="en-US" sz="1600" dirty="0"/>
          </a:p>
        </p:txBody>
      </p:sp>
      <p:sp>
        <p:nvSpPr>
          <p:cNvPr id="16" name="deliverable-row"/>
          <p:cNvSpPr/>
          <p:nvPr/>
        </p:nvSpPr>
        <p:spPr>
          <a:xfrm>
            <a:off x="1422400" y="5613400"/>
            <a:ext cx="7696200" cy="533400"/>
          </a:xfrm>
          <a:prstGeom prst="roundRect">
            <a:avLst>
              <a:gd name="adj" fmla="val 14286"/>
            </a:avLst>
          </a:prstGeom>
          <a:solidFill>
            <a:srgbClr val="18283A"/>
          </a:solidFill>
          <a:ln/>
        </p:spPr>
      </p:sp>
      <p:sp>
        <p:nvSpPr>
          <p:cNvPr id="17" name="deliverable-label"/>
          <p:cNvSpPr/>
          <p:nvPr/>
        </p:nvSpPr>
        <p:spPr>
          <a:xfrm>
            <a:off x="1651000" y="57404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DELIVERABLE</a:t>
            </a:r>
            <a:endParaRPr lang="en-US" sz="1600" dirty="0"/>
          </a:p>
        </p:txBody>
      </p:sp>
      <p:sp>
        <p:nvSpPr>
          <p:cNvPr id="18" name="deliverable-copy"/>
          <p:cNvSpPr/>
          <p:nvPr/>
        </p:nvSpPr>
        <p:spPr>
          <a:xfrm>
            <a:off x="4191000" y="57404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Format, language, and audience.</a:t>
            </a:r>
            <a:endParaRPr lang="en-US" sz="1600" dirty="0"/>
          </a:p>
        </p:txBody>
      </p:sp>
      <p:sp>
        <p:nvSpPr>
          <p:cNvPr id="19" name="constraints-row"/>
          <p:cNvSpPr/>
          <p:nvPr/>
        </p:nvSpPr>
        <p:spPr>
          <a:xfrm>
            <a:off x="1422400" y="6299200"/>
            <a:ext cx="7696200" cy="533400"/>
          </a:xfrm>
          <a:prstGeom prst="roundRect">
            <a:avLst>
              <a:gd name="adj" fmla="val 14286"/>
            </a:avLst>
          </a:prstGeom>
          <a:solidFill>
            <a:srgbClr val="18283A"/>
          </a:solidFill>
          <a:ln/>
        </p:spPr>
      </p:sp>
      <p:sp>
        <p:nvSpPr>
          <p:cNvPr id="20" name="constraints-label"/>
          <p:cNvSpPr/>
          <p:nvPr/>
        </p:nvSpPr>
        <p:spPr>
          <a:xfrm>
            <a:off x="1651000" y="64262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CONSTRAINTS</a:t>
            </a:r>
            <a:endParaRPr lang="en-US" sz="1600" dirty="0"/>
          </a:p>
        </p:txBody>
      </p:sp>
      <p:sp>
        <p:nvSpPr>
          <p:cNvPr id="21" name="constraints-copy"/>
          <p:cNvSpPr/>
          <p:nvPr/>
        </p:nvSpPr>
        <p:spPr>
          <a:xfrm>
            <a:off x="4191000" y="64262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non-negotiable rule once.</a:t>
            </a:r>
            <a:endParaRPr lang="en-US" sz="1600" dirty="0"/>
          </a:p>
        </p:txBody>
      </p:sp>
      <p:sp>
        <p:nvSpPr>
          <p:cNvPr id="22" name="check-row"/>
          <p:cNvSpPr/>
          <p:nvPr/>
        </p:nvSpPr>
        <p:spPr>
          <a:xfrm>
            <a:off x="1422400" y="6985000"/>
            <a:ext cx="7696200" cy="533400"/>
          </a:xfrm>
          <a:prstGeom prst="roundRect">
            <a:avLst>
              <a:gd name="adj" fmla="val 14286"/>
            </a:avLst>
          </a:prstGeom>
          <a:solidFill>
            <a:srgbClr val="1D2B18"/>
          </a:solidFill>
          <a:ln/>
        </p:spPr>
      </p:sp>
      <p:sp>
        <p:nvSpPr>
          <p:cNvPr id="23" name="check-label"/>
          <p:cNvSpPr/>
          <p:nvPr/>
        </p:nvSpPr>
        <p:spPr>
          <a:xfrm>
            <a:off x="1651000" y="71120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FINAL CHECK</a:t>
            </a:r>
            <a:endParaRPr lang="en-US" sz="1600" dirty="0"/>
          </a:p>
        </p:txBody>
      </p:sp>
      <p:sp>
        <p:nvSpPr>
          <p:cNvPr id="24" name="check-copy"/>
          <p:cNvSpPr/>
          <p:nvPr/>
        </p:nvSpPr>
        <p:spPr>
          <a:xfrm>
            <a:off x="4191000" y="7112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to five observable checks.</a:t>
            </a:r>
            <a:endParaRPr lang="en-US" sz="1600" dirty="0"/>
          </a:p>
        </p:txBody>
      </p:sp>
      <p:sp>
        <p:nvSpPr>
          <p:cNvPr id="25" name="right-divider"/>
          <p:cNvSpPr/>
          <p:nvPr/>
        </p:nvSpPr>
        <p:spPr>
          <a:xfrm>
            <a:off x="10414000" y="2997200"/>
            <a:ext cx="9144" cy="4318000"/>
          </a:xfrm>
          <a:prstGeom prst="line">
            <a:avLst/>
          </a:prstGeom>
          <a:ln w="12700">
            <a:solidFill>
              <a:srgbClr val="2A3143"/>
            </a:solidFill>
            <a:prstDash val="solid"/>
          </a:ln>
        </p:spPr>
      </p:sp>
      <p:pic>
        <p:nvPicPr>
          <p:cNvPr id="26" name="righ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0" y="3276600"/>
            <a:ext cx="558800" cy="558800"/>
          </a:xfrm>
          <a:prstGeom prst="rect">
            <a:avLst/>
          </a:prstGeom>
        </p:spPr>
      </p:pic>
      <p:sp>
        <p:nvSpPr>
          <p:cNvPr id="27" name="right-heading"/>
          <p:cNvSpPr/>
          <p:nvPr/>
        </p:nvSpPr>
        <p:spPr>
          <a:xfrm>
            <a:off x="11303000" y="4127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altLang="en-US" sz="26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layer,</a:t>
            </a:r>
            <a:endParaRPr lang="en-US" sz="26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altLang="en-US" sz="26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responsibility.</a:t>
            </a:r>
            <a:endParaRPr lang="en-US" sz="2600" dirty="0"/>
          </a:p>
        </p:txBody>
      </p:sp>
      <p:sp>
        <p:nvSpPr>
          <p:cNvPr id="28" name="right-copy"/>
          <p:cNvSpPr/>
          <p:nvPr/>
        </p:nvSpPr>
        <p:spPr>
          <a:xfrm>
            <a:off x="11303000" y="5270500"/>
            <a:ext cx="3302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policy should not mix with variable data or be duplicated across project, skill, and task.</a:t>
            </a:r>
            <a:endParaRPr lang="en-US" sz="1800" dirty="0"/>
          </a:p>
        </p:txBody>
      </p:sp>
      <p:sp>
        <p:nvSpPr>
          <p:cNvPr id="29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MANUS PRINCIPLES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371600"/>
            <a:ext cx="1181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rules that make context work for you.</a:t>
            </a:r>
            <a:endParaRPr lang="en-US" sz="3800" dirty="0"/>
          </a:p>
        </p:txBody>
      </p:sp>
      <p:sp>
        <p:nvSpPr>
          <p:cNvPr id="5" name="card1"/>
          <p:cNvSpPr/>
          <p:nvPr/>
        </p:nvSpPr>
        <p:spPr>
          <a:xfrm>
            <a:off x="1016000" y="2921000"/>
            <a:ext cx="6604000" cy="1879600"/>
          </a:xfrm>
          <a:prstGeom prst="roundRect">
            <a:avLst>
              <a:gd name="adj" fmla="val 9459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pic>
        <p:nvPicPr>
          <p:cNvPr id="6" name="icon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3352800"/>
            <a:ext cx="431800" cy="431800"/>
          </a:xfrm>
          <a:prstGeom prst="rect">
            <a:avLst/>
          </a:prstGeom>
        </p:spPr>
      </p:pic>
      <p:sp>
        <p:nvSpPr>
          <p:cNvPr id="7" name="card1-title"/>
          <p:cNvSpPr/>
          <p:nvPr/>
        </p:nvSpPr>
        <p:spPr>
          <a:xfrm>
            <a:off x="2108200" y="3276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Stable prefix</a:t>
            </a:r>
            <a:endParaRPr lang="en-US" sz="2300" dirty="0"/>
          </a:p>
        </p:txBody>
      </p:sp>
      <p:sp>
        <p:nvSpPr>
          <p:cNvPr id="8" name="card1-copy"/>
          <p:cNvSpPr/>
          <p:nvPr/>
        </p:nvSpPr>
        <p:spPr>
          <a:xfrm>
            <a:off x="2108200" y="3835400"/>
            <a:ext cx="4635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rules keep their order and are not filled with volatile data.</a:t>
            </a:r>
            <a:endParaRPr lang="en-US" sz="1700" dirty="0"/>
          </a:p>
        </p:txBody>
      </p:sp>
      <p:sp>
        <p:nvSpPr>
          <p:cNvPr id="9" name="card2"/>
          <p:cNvSpPr/>
          <p:nvPr/>
        </p:nvSpPr>
        <p:spPr>
          <a:xfrm>
            <a:off x="8636000" y="2921000"/>
            <a:ext cx="6604000" cy="1879600"/>
          </a:xfrm>
          <a:prstGeom prst="roundRect">
            <a:avLst>
              <a:gd name="adj" fmla="val 9459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pic>
        <p:nvPicPr>
          <p:cNvPr id="10" name="icon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0" y="3352800"/>
            <a:ext cx="431800" cy="431800"/>
          </a:xfrm>
          <a:prstGeom prst="rect">
            <a:avLst/>
          </a:prstGeom>
        </p:spPr>
      </p:pic>
      <p:sp>
        <p:nvSpPr>
          <p:cNvPr id="11" name="card2-title"/>
          <p:cNvSpPr/>
          <p:nvPr/>
        </p:nvSpPr>
        <p:spPr>
          <a:xfrm>
            <a:off x="9728200" y="3276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Separate layers</a:t>
            </a:r>
            <a:endParaRPr lang="en-US" sz="2300" dirty="0"/>
          </a:p>
        </p:txBody>
      </p:sp>
      <p:sp>
        <p:nvSpPr>
          <p:cNvPr id="12" name="card2-copy"/>
          <p:cNvSpPr/>
          <p:nvPr/>
        </p:nvSpPr>
        <p:spPr>
          <a:xfrm>
            <a:off x="9728200" y="3835400"/>
            <a:ext cx="4635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Policy, procedure, task data, and evidence belong in different places.</a:t>
            </a:r>
            <a:endParaRPr lang="en-US" sz="1700" dirty="0"/>
          </a:p>
        </p:txBody>
      </p:sp>
      <p:sp>
        <p:nvSpPr>
          <p:cNvPr id="13" name="card3"/>
          <p:cNvSpPr/>
          <p:nvPr/>
        </p:nvSpPr>
        <p:spPr>
          <a:xfrm>
            <a:off x="1016000" y="5308600"/>
            <a:ext cx="6604000" cy="1879600"/>
          </a:xfrm>
          <a:prstGeom prst="roundRect">
            <a:avLst>
              <a:gd name="adj" fmla="val 9459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pic>
        <p:nvPicPr>
          <p:cNvPr id="14" name="icon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5740400"/>
            <a:ext cx="431800" cy="431800"/>
          </a:xfrm>
          <a:prstGeom prst="rect">
            <a:avLst/>
          </a:prstGeom>
        </p:spPr>
      </p:pic>
      <p:sp>
        <p:nvSpPr>
          <p:cNvPr id="15" name="card3-title"/>
          <p:cNvSpPr/>
          <p:nvPr/>
        </p:nvSpPr>
        <p:spPr>
          <a:xfrm>
            <a:off x="2108200" y="56642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Files as memory</a:t>
            </a:r>
            <a:endParaRPr lang="en-US" sz="2300" dirty="0"/>
          </a:p>
        </p:txBody>
      </p:sp>
      <p:sp>
        <p:nvSpPr>
          <p:cNvPr id="16" name="card3-copy"/>
          <p:cNvSpPr/>
          <p:nvPr/>
        </p:nvSpPr>
        <p:spPr>
          <a:xfrm>
            <a:off x="2108200" y="6223000"/>
            <a:ext cx="4635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material stays at an exact path and is recovered only when necessary.</a:t>
            </a:r>
            <a:endParaRPr lang="en-US" sz="1700" dirty="0"/>
          </a:p>
        </p:txBody>
      </p:sp>
      <p:sp>
        <p:nvSpPr>
          <p:cNvPr id="17" name="card4"/>
          <p:cNvSpPr/>
          <p:nvPr/>
        </p:nvSpPr>
        <p:spPr>
          <a:xfrm>
            <a:off x="8636000" y="5308600"/>
            <a:ext cx="6604000" cy="1879600"/>
          </a:xfrm>
          <a:prstGeom prst="roundRect">
            <a:avLst>
              <a:gd name="adj" fmla="val 9459"/>
            </a:avLst>
          </a:prstGeom>
          <a:solidFill>
            <a:srgbClr val="1D2B18"/>
          </a:solidFill>
          <a:ln w="12700">
            <a:solidFill>
              <a:srgbClr val="B4E61E"/>
            </a:solidFill>
            <a:prstDash val="solid"/>
          </a:ln>
        </p:spPr>
      </p:sp>
      <p:pic>
        <p:nvPicPr>
          <p:cNvPr id="18" name="icon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0" y="5740400"/>
            <a:ext cx="431800" cy="431800"/>
          </a:xfrm>
          <a:prstGeom prst="rect">
            <a:avLst/>
          </a:prstGeom>
        </p:spPr>
      </p:pic>
      <p:sp>
        <p:nvSpPr>
          <p:cNvPr id="19" name="card4-title"/>
          <p:cNvSpPr/>
          <p:nvPr/>
        </p:nvSpPr>
        <p:spPr>
          <a:xfrm>
            <a:off x="9728200" y="56642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Progressive loading</a:t>
            </a:r>
            <a:endParaRPr lang="en-US" sz="2300" dirty="0"/>
          </a:p>
        </p:txBody>
      </p:sp>
      <p:sp>
        <p:nvSpPr>
          <p:cNvPr id="20" name="card4-copy"/>
          <p:cNvSpPr/>
          <p:nvPr/>
        </p:nvSpPr>
        <p:spPr>
          <a:xfrm>
            <a:off x="9728200" y="6223000"/>
            <a:ext cx="4635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skill loads the core flow; detail and references load only on demand.</a:t>
            </a:r>
            <a:endParaRPr lang="en-US" sz="1700" dirty="0"/>
          </a:p>
        </p:txBody>
      </p:sp>
      <p:sp>
        <p:nvSpPr>
          <p:cNvPr id="21" name="source"/>
          <p:cNvSpPr/>
          <p:nvPr/>
        </p:nvSpPr>
        <p:spPr>
          <a:xfrm>
            <a:off x="1016000" y="81915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Manus public practices on context engineering and progressive skill loading.</a:t>
            </a:r>
            <a:endParaRPr lang="en-US" sz="1200" dirty="0"/>
          </a:p>
        </p:txBody>
      </p:sp>
      <p:sp>
        <p:nvSpPr>
          <p:cNvPr id="22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— VALIDATION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371600"/>
            <a:ext cx="1168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Validate before claiming success.</a:t>
            </a:r>
            <a:endParaRPr lang="en-US" sz="3800" dirty="0"/>
          </a:p>
        </p:txBody>
      </p:sp>
      <p:sp>
        <p:nvSpPr>
          <p:cNvPr id="5" name="intro"/>
          <p:cNvSpPr/>
          <p:nvPr/>
        </p:nvSpPr>
        <p:spPr>
          <a:xfrm>
            <a:off x="1016000" y="2260600"/>
            <a:ext cx="1206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comparison uses the same test case. The prompt changes, not the standard.</a:t>
            </a:r>
            <a:endParaRPr lang="en-US" sz="2000" dirty="0"/>
          </a:p>
        </p:txBody>
      </p:sp>
      <p:sp>
        <p:nvSpPr>
          <p:cNvPr id="6" name="test-card"/>
          <p:cNvSpPr/>
          <p:nvPr/>
        </p:nvSpPr>
        <p:spPr>
          <a:xfrm>
            <a:off x="1016000" y="3276600"/>
            <a:ext cx="4165600" cy="3530600"/>
          </a:xfrm>
          <a:prstGeom prst="roundRect">
            <a:avLst>
              <a:gd name="adj" fmla="val 5036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pic>
        <p:nvPicPr>
          <p:cNvPr id="7" name="tes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3708400"/>
            <a:ext cx="457200" cy="457200"/>
          </a:xfrm>
          <a:prstGeom prst="rect">
            <a:avLst/>
          </a:prstGeom>
        </p:spPr>
      </p:pic>
      <p:sp>
        <p:nvSpPr>
          <p:cNvPr id="8" name="test-title"/>
          <p:cNvSpPr/>
          <p:nvPr/>
        </p:nvSpPr>
        <p:spPr>
          <a:xfrm>
            <a:off x="1422400" y="4445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Test</a:t>
            </a:r>
            <a:endParaRPr lang="en-US" sz="2300" dirty="0"/>
          </a:p>
        </p:txBody>
      </p:sp>
      <p:sp>
        <p:nvSpPr>
          <p:cNvPr id="9" name="test-copy"/>
          <p:cNvSpPr/>
          <p:nvPr/>
        </p:nvSpPr>
        <p:spPr>
          <a:xfrm>
            <a:off x="1422400" y="5080000"/>
            <a:ext cx="311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real case for a quick change. Three to five cases for a reusable prompt.</a:t>
            </a:r>
            <a:endParaRPr lang="en-US" sz="1700" dirty="0"/>
          </a:p>
        </p:txBody>
      </p:sp>
      <p:sp>
        <p:nvSpPr>
          <p:cNvPr id="10" name="quality-card"/>
          <p:cNvSpPr/>
          <p:nvPr/>
        </p:nvSpPr>
        <p:spPr>
          <a:xfrm>
            <a:off x="6045200" y="3276600"/>
            <a:ext cx="4165600" cy="3530600"/>
          </a:xfrm>
          <a:prstGeom prst="roundRect">
            <a:avLst>
              <a:gd name="adj" fmla="val 5036"/>
            </a:avLst>
          </a:prstGeom>
          <a:solidFill>
            <a:srgbClr val="141A29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quality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3708400"/>
            <a:ext cx="457200" cy="457200"/>
          </a:xfrm>
          <a:prstGeom prst="rect">
            <a:avLst/>
          </a:prstGeom>
        </p:spPr>
      </p:pic>
      <p:sp>
        <p:nvSpPr>
          <p:cNvPr id="12" name="quality-title"/>
          <p:cNvSpPr/>
          <p:nvPr/>
        </p:nvSpPr>
        <p:spPr>
          <a:xfrm>
            <a:off x="6451600" y="4445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Quality</a:t>
            </a:r>
            <a:endParaRPr lang="en-US" sz="2300" dirty="0"/>
          </a:p>
        </p:txBody>
      </p:sp>
      <p:sp>
        <p:nvSpPr>
          <p:cNvPr id="13" name="quality-copy"/>
          <p:cNvSpPr/>
          <p:nvPr/>
        </p:nvSpPr>
        <p:spPr>
          <a:xfrm>
            <a:off x="6451600" y="5080000"/>
            <a:ext cx="311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objective, constraints, rigor, useful completeness, and actionability.</a:t>
            </a:r>
            <a:endParaRPr lang="en-US" sz="1700" dirty="0"/>
          </a:p>
        </p:txBody>
      </p:sp>
      <p:sp>
        <p:nvSpPr>
          <p:cNvPr id="14" name="eff-card"/>
          <p:cNvSpPr/>
          <p:nvPr/>
        </p:nvSpPr>
        <p:spPr>
          <a:xfrm>
            <a:off x="11074400" y="3276600"/>
            <a:ext cx="4165600" cy="3530600"/>
          </a:xfrm>
          <a:prstGeom prst="roundRect">
            <a:avLst>
              <a:gd name="adj" fmla="val 5036"/>
            </a:avLst>
          </a:prstGeom>
          <a:solidFill>
            <a:srgbClr val="141A29"/>
          </a:solidFill>
          <a:ln w="12700">
            <a:solidFill>
              <a:srgbClr val="B4E61E"/>
            </a:solidFill>
            <a:prstDash val="solid"/>
          </a:ln>
        </p:spPr>
      </p:sp>
      <p:pic>
        <p:nvPicPr>
          <p:cNvPr id="15" name="eff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0" y="3708400"/>
            <a:ext cx="457200" cy="457200"/>
          </a:xfrm>
          <a:prstGeom prst="rect">
            <a:avLst/>
          </a:prstGeom>
        </p:spPr>
      </p:pic>
      <p:sp>
        <p:nvSpPr>
          <p:cNvPr id="16" name="eff-title"/>
          <p:cNvSpPr/>
          <p:nvPr/>
        </p:nvSpPr>
        <p:spPr>
          <a:xfrm>
            <a:off x="11480800" y="4445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Efficiency</a:t>
            </a:r>
            <a:endParaRPr lang="en-US" sz="2300" dirty="0"/>
          </a:p>
        </p:txBody>
      </p:sp>
      <p:sp>
        <p:nvSpPr>
          <p:cNvPr id="17" name="eff-copy"/>
          <p:cNvSpPr/>
          <p:nvPr/>
        </p:nvSpPr>
        <p:spPr>
          <a:xfrm>
            <a:off x="11480800" y="5080000"/>
            <a:ext cx="311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characters, words, and duplicates; record context moved to on-demand resources.</a:t>
            </a:r>
            <a:endParaRPr lang="en-US" sz="1700" dirty="0"/>
          </a:p>
        </p:txBody>
      </p:sp>
      <p:sp>
        <p:nvSpPr>
          <p:cNvPr id="18" name="verdict"/>
          <p:cNvSpPr/>
          <p:nvPr/>
        </p:nvSpPr>
        <p:spPr>
          <a:xfrm>
            <a:off x="3048000" y="7416800"/>
            <a:ext cx="10160000" cy="736600"/>
          </a:xfrm>
          <a:prstGeom prst="roundRect">
            <a:avLst>
              <a:gd name="adj" fmla="val 50000"/>
            </a:avLst>
          </a:prstGeom>
          <a:solidFill>
            <a:srgbClr val="B4E61E"/>
          </a:solidFill>
          <a:ln/>
        </p:spPr>
      </p:sp>
      <p:pic>
        <p:nvPicPr>
          <p:cNvPr id="19" name="verdic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569200"/>
            <a:ext cx="381000" cy="381000"/>
          </a:xfrm>
          <a:prstGeom prst="rect">
            <a:avLst/>
          </a:prstGeom>
        </p:spPr>
      </p:pic>
      <p:sp>
        <p:nvSpPr>
          <p:cNvPr id="20" name="verdict-copy"/>
          <p:cNvSpPr/>
          <p:nvPr/>
        </p:nvSpPr>
        <p:spPr>
          <a:xfrm>
            <a:off x="4064000" y="7556500"/>
            <a:ext cx="863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A0F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= equal or better quality + verifiably lower recurring load.</a:t>
            </a:r>
            <a:endParaRPr lang="en-US" sz="1900" dirty="0"/>
          </a:p>
        </p:txBody>
      </p:sp>
      <p:sp>
        <p:nvSpPr>
          <p:cNvPr id="21" name="note"/>
          <p:cNvSpPr/>
          <p:nvPr/>
        </p:nvSpPr>
        <p:spPr>
          <a:xfrm>
            <a:off x="1016000" y="8445500"/>
            <a:ext cx="1104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Characters and words compare design. They are not runtime tokens, cost, or latency.</a:t>
            </a:r>
            <a:endParaRPr lang="en-US" sz="1200" dirty="0"/>
          </a:p>
        </p:txBody>
      </p:sp>
      <p:sp>
        <p:nvSpPr>
          <p:cNvPr id="22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l"/>
          <p:cNvSpPr/>
          <p:nvPr/>
        </p:nvSpPr>
        <p:spPr>
          <a:xfrm>
            <a:off x="762000" y="508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&gt;_</a:t>
            </a:r>
            <a:endParaRPr lang="en-US" sz="1400" dirty="0"/>
          </a:p>
        </p:txBody>
      </p:sp>
      <p:sp>
        <p:nvSpPr>
          <p:cNvPr id="3" name="section"/>
          <p:cNvSpPr/>
          <p:nvPr/>
        </p:nvSpPr>
        <p:spPr>
          <a:xfrm>
            <a:off x="1295400" y="4953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— GET STARTED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1016000" y="1422400"/>
            <a:ext cx="939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2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three real prompts.</a:t>
            </a:r>
            <a:endParaRPr lang="en-US" sz="4200" dirty="0"/>
          </a:p>
        </p:txBody>
      </p:sp>
      <p:sp>
        <p:nvSpPr>
          <p:cNvPr id="5" name="subtitle"/>
          <p:cNvSpPr/>
          <p:nvPr/>
        </p:nvSpPr>
        <p:spPr>
          <a:xfrm>
            <a:off x="1016000" y="2336800"/>
            <a:ext cx="800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altLang="en-US" sz="21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skill proves itself on your work, not on a polished example prompt.</a:t>
            </a:r>
            <a:endParaRPr lang="en-US" sz="2100" dirty="0"/>
          </a:p>
        </p:txBody>
      </p:sp>
      <p:sp>
        <p:nvSpPr>
          <p:cNvPr id="6" name="trigger-card"/>
          <p:cNvSpPr/>
          <p:nvPr/>
        </p:nvSpPr>
        <p:spPr>
          <a:xfrm>
            <a:off x="1016000" y="3683000"/>
            <a:ext cx="5461000" cy="2311400"/>
          </a:xfrm>
          <a:prstGeom prst="roundRect">
            <a:avLst>
              <a:gd name="adj" fmla="val 7692"/>
            </a:avLst>
          </a:prstGeom>
          <a:solidFill>
            <a:srgbClr val="141A2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rigger-label"/>
          <p:cNvSpPr/>
          <p:nvPr/>
        </p:nvSpPr>
        <p:spPr>
          <a:xfrm>
            <a:off x="1422400" y="40894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IT WITH PLAIN LANGUAGE</a:t>
            </a:r>
            <a:endParaRPr lang="en-US" sz="1300" dirty="0"/>
          </a:p>
        </p:txBody>
      </p:sp>
      <p:sp>
        <p:nvSpPr>
          <p:cNvPr id="8" name="trigger-copy"/>
          <p:cNvSpPr/>
          <p:nvPr/>
        </p:nvSpPr>
        <p:spPr>
          <a:xfrm>
            <a:off x="1422400" y="4597400"/>
            <a:ext cx="4127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“Improve this prompt”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“Optimize this prompt for Manus”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“Reduce tokens without losing quality”</a:t>
            </a:r>
            <a:endParaRPr lang="en-US" sz="1800" dirty="0"/>
          </a:p>
        </p:txBody>
      </p:sp>
      <p:sp>
        <p:nvSpPr>
          <p:cNvPr id="9" name="test1"/>
          <p:cNvSpPr/>
          <p:nvPr/>
        </p:nvSpPr>
        <p:spPr>
          <a:xfrm>
            <a:off x="7747000" y="3683000"/>
            <a:ext cx="2133600" cy="2311400"/>
          </a:xfrm>
          <a:prstGeom prst="roundRect">
            <a:avLst>
              <a:gd name="adj" fmla="val 8333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10" name="test1-n"/>
          <p:cNvSpPr/>
          <p:nvPr/>
        </p:nvSpPr>
        <p:spPr>
          <a:xfrm>
            <a:off x="8102600" y="40640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st1-title"/>
          <p:cNvSpPr/>
          <p:nvPr/>
        </p:nvSpPr>
        <p:spPr>
          <a:xfrm>
            <a:off x="8102600" y="4673600"/>
            <a:ext cx="133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</a:t>
            </a:r>
            <a:endParaRPr lang="en-US" sz="18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st2"/>
          <p:cNvSpPr/>
          <p:nvPr/>
        </p:nvSpPr>
        <p:spPr>
          <a:xfrm>
            <a:off x="10236200" y="3683000"/>
            <a:ext cx="2133600" cy="2311400"/>
          </a:xfrm>
          <a:prstGeom prst="roundRect">
            <a:avLst>
              <a:gd name="adj" fmla="val 8333"/>
            </a:avLst>
          </a:prstGeom>
          <a:solidFill>
            <a:srgbClr val="141A29"/>
          </a:solidFill>
          <a:ln w="12700">
            <a:solidFill>
              <a:srgbClr val="2A3143"/>
            </a:solidFill>
            <a:prstDash val="solid"/>
          </a:ln>
        </p:spPr>
      </p:sp>
      <p:sp>
        <p:nvSpPr>
          <p:cNvPr id="13" name="test2-n"/>
          <p:cNvSpPr/>
          <p:nvPr/>
        </p:nvSpPr>
        <p:spPr>
          <a:xfrm>
            <a:off x="10591800" y="40640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st2-title"/>
          <p:cNvSpPr/>
          <p:nvPr/>
        </p:nvSpPr>
        <p:spPr>
          <a:xfrm>
            <a:off x="10591800" y="46736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</a:t>
            </a:r>
            <a:endParaRPr lang="en-US" sz="18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</a:t>
            </a:r>
            <a:endParaRPr lang="en-US" sz="1800" dirty="0"/>
          </a:p>
        </p:txBody>
      </p:sp>
      <p:sp>
        <p:nvSpPr>
          <p:cNvPr id="15" name="test3"/>
          <p:cNvSpPr/>
          <p:nvPr/>
        </p:nvSpPr>
        <p:spPr>
          <a:xfrm>
            <a:off x="12725400" y="3683000"/>
            <a:ext cx="2133600" cy="2311400"/>
          </a:xfrm>
          <a:prstGeom prst="roundRect">
            <a:avLst>
              <a:gd name="adj" fmla="val 8333"/>
            </a:avLst>
          </a:prstGeom>
          <a:solidFill>
            <a:srgbClr val="1D2B18"/>
          </a:solidFill>
          <a:ln w="12700">
            <a:solidFill>
              <a:srgbClr val="B4E61E"/>
            </a:solidFill>
            <a:prstDash val="solid"/>
          </a:ln>
        </p:spPr>
      </p:sp>
      <p:sp>
        <p:nvSpPr>
          <p:cNvPr id="16" name="test3-n"/>
          <p:cNvSpPr/>
          <p:nvPr/>
        </p:nvSpPr>
        <p:spPr>
          <a:xfrm>
            <a:off x="13081000" y="40640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B4E6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st3-title"/>
          <p:cNvSpPr/>
          <p:nvPr/>
        </p:nvSpPr>
        <p:spPr>
          <a:xfrm>
            <a:off x="13081000" y="46736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8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fails</a:t>
            </a:r>
            <a:endParaRPr lang="en-US" sz="1800" dirty="0"/>
          </a:p>
        </p:txBody>
      </p:sp>
      <p:sp>
        <p:nvSpPr>
          <p:cNvPr id="18" name="result-card"/>
          <p:cNvSpPr/>
          <p:nvPr/>
        </p:nvSpPr>
        <p:spPr>
          <a:xfrm>
            <a:off x="1016000" y="6731000"/>
            <a:ext cx="13843000" cy="1092200"/>
          </a:xfrm>
          <a:prstGeom prst="roundRect">
            <a:avLst>
              <a:gd name="adj" fmla="val 16279"/>
            </a:avLst>
          </a:prstGeom>
          <a:solidFill>
            <a:srgbClr val="18283A"/>
          </a:solidFill>
          <a:ln w="12700">
            <a:solidFill>
              <a:srgbClr val="2A3143"/>
            </a:solidFill>
            <a:prstDash val="solid"/>
          </a:ln>
        </p:spPr>
      </p:sp>
      <p:pic>
        <p:nvPicPr>
          <p:cNvPr id="19" name="resul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7061200"/>
            <a:ext cx="431800" cy="431800"/>
          </a:xfrm>
          <a:prstGeom prst="rect">
            <a:avLst/>
          </a:prstGeom>
        </p:spPr>
      </p:pic>
      <p:sp>
        <p:nvSpPr>
          <p:cNvPr id="20" name="result-title"/>
          <p:cNvSpPr/>
          <p:nvPr/>
        </p:nvSpPr>
        <p:spPr>
          <a:xfrm>
            <a:off x="2133600" y="6959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B4E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OUTPUT</a:t>
            </a:r>
            <a:endParaRPr lang="en-US" sz="1300" dirty="0"/>
          </a:p>
        </p:txBody>
      </p:sp>
      <p:sp>
        <p:nvSpPr>
          <p:cNvPr id="21" name="result-copy"/>
          <p:cNvSpPr/>
          <p:nvPr/>
        </p:nvSpPr>
        <p:spPr>
          <a:xfrm>
            <a:off x="2133600" y="7366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→ optimized prompt → changes → validation → one risk or next test.</a:t>
            </a:r>
            <a:endParaRPr lang="en-US" sz="1800" dirty="0"/>
          </a:p>
        </p:txBody>
      </p:sp>
      <p:sp>
        <p:nvSpPr>
          <p:cNvPr id="22" name="closing"/>
          <p:cNvSpPr/>
          <p:nvPr/>
        </p:nvSpPr>
        <p:spPr>
          <a:xfrm>
            <a:off x="1016000" y="83820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does not optimize for aesthetics. It optimizes for better decisions and execution.</a:t>
            </a:r>
            <a:endParaRPr lang="en-US" sz="1300" dirty="0"/>
          </a:p>
        </p:txBody>
      </p:sp>
      <p:sp>
        <p:nvSpPr>
          <p:cNvPr id="23" name="page"/>
          <p:cNvSpPr/>
          <p:nvPr/>
        </p:nvSpPr>
        <p:spPr>
          <a:xfrm>
            <a:off x="14732000" y="8509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A1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Manus Prompt Optimizer — Quality and Context Efficiency</dc:title>
  <dc:subject>Manus Prompt Optimizer — Quality and Context Efficiency</dc:subject>
  <dc:creator>Manus</dc:creator>
  <cp:lastModifiedBy>Manus</cp:lastModifiedBy>
  <cp:revision>1</cp:revision>
  <dcterms:created xsi:type="dcterms:W3CDTF">2026-10-12T09:53:58Z</dcterms:created>
  <dcterms:modified xsi:type="dcterms:W3CDTF">2026-10-12T09:53:58Z</dcterms:modified>
</cp:coreProperties>
</file>